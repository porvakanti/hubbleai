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hubbleAI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DCDCDC"/>
                </a:solidFill>
              </a:defRPr>
            </a:pPr>
            <a:r>
              <a:t>Smarter Cash Flow Forecasting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381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5B2D8E"/>
                </a:solidFill>
              </a:defRPr>
            </a:pPr>
            <a:r>
              <a:t>The Challenge We 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76200" cy="82296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09728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3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04040"/>
                </a:solidFill>
              </a:rPr>
              <a:t>Limited visibility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Traditional forecasts only looked 4 weeks ahead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76200" cy="82296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09728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7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04040"/>
                </a:solidFill>
              </a:rPr>
              <a:t>Manual guesswork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Hard to predict complex cash flows accurately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76200" cy="82296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09728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04040"/>
                </a:solidFill>
              </a:rPr>
              <a:t>Reactive planning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Short horizons meant last-minute scrambling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76200" cy="82296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109728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04040"/>
                </a:solidFill>
              </a:rPr>
              <a:t>Over-budgeting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Uncertainty led to holding excess cash 'just in case'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381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5B2D8E"/>
                </a:solidFill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03520" cy="5486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BEFORE (Traditional)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30352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AFTER (hubbleAI)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3035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4 weeks of visibility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53035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Single-point forecasts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3035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Manual weekly updates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17720"/>
            <a:ext cx="53035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No performance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53035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7D32"/>
                </a:solidFill>
              </a:defRPr>
            </a:pPr>
            <a:r>
              <a:t>✓  8 weeks of visibility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63240"/>
            <a:ext cx="53035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7D32"/>
                </a:solidFill>
              </a:defRPr>
            </a:pPr>
            <a:r>
              <a:t>✓  Range: best / likely / worst case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3035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77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7D32"/>
                </a:solidFill>
              </a:defRPr>
            </a:pPr>
            <a:r>
              <a:t>✓  Automated weekly predictions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17720"/>
            <a:ext cx="53035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7D32"/>
                </a:solidFill>
              </a:defRPr>
            </a:pPr>
            <a:r>
              <a:t>✓  Transparent accuracy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381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5B2D8E"/>
                </a:solidFill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2011680"/>
          </a:xfrm>
          <a:prstGeom prst="round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1.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AI studies 1+ year</a:t>
            </a:r>
            <a:br/>
            <a:r>
              <a:t>of historical data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2468880"/>
            <a:ext cx="822960" cy="45720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00400" cy="2011680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2. 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Generates forecasts</a:t>
            </a:r>
            <a:br/>
            <a:r>
              <a:t>for next 8 weeks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80960" y="2468880"/>
            <a:ext cx="822960" cy="45720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00400" cy="20116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3. 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Shows performance</a:t>
            </a:r>
            <a:br/>
            <a:r>
              <a:t>vs traditional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B2D8E"/>
                </a:solidFill>
              </a:defRPr>
            </a:pPr>
            <a:r>
              <a:t>What makes it smart: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✓  Learns seasonal patterns (month-end spikes, holiday dips)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✓  Provides a range: best case / likely / worst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✓  Runs automatically every week — no manual effort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381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5B2D8E"/>
                </a:solidFill>
              </a:defRPr>
            </a:pPr>
            <a:r>
              <a:t>Results We've Seen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1645920"/>
          </a:xfrm>
          <a:prstGeom prst="roundRect">
            <a:avLst/>
          </a:prstGeom>
          <a:noFill/>
          <a:ln w="38100">
            <a:solidFill>
              <a:srgbClr val="5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5B2D8E"/>
                </a:solidFill>
              </a:defRPr>
            </a:pPr>
            <a:r>
              <a:t>2x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FORECAST VISIBILITY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03520" cy="1645920"/>
          </a:xfrm>
          <a:prstGeom prst="roundRect">
            <a:avLst/>
          </a:prstGeom>
          <a:noFill/>
          <a:ln w="381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92024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85D04"/>
                </a:solidFill>
              </a:defRPr>
            </a:pPr>
            <a:r>
              <a:t>75-90%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7432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WIN RATE VS TRADITIONAL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303520" cy="1645920"/>
          </a:xfrm>
          <a:prstGeom prst="roundRect">
            <a:avLst/>
          </a:prstGeom>
          <a:noFill/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7D32"/>
                </a:solidFill>
              </a:defRPr>
            </a:pPr>
            <a:r>
              <a:t>5-22%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FORECAST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657600"/>
            <a:ext cx="5303520" cy="1645920"/>
          </a:xfrm>
          <a:prstGeom prst="roundRect">
            <a:avLst/>
          </a:prstGeom>
          <a:noFill/>
          <a:ln w="38100">
            <a:solidFill>
              <a:srgbClr val="DCB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DCB432"/>
                </a:solidFill>
              </a:defRPr>
            </a:pPr>
            <a:r>
              <a:t>Best / Likely / Worst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7548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RISK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B2D8E"/>
                </a:solidFill>
              </a:defRPr>
            </a:pPr>
            <a:r>
              <a:t>AI doesn't replace expertise — it extends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474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4930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Extends forecast visibility from 4 to 8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069080"/>
            <a:ext cx="9144000" cy="548640"/>
          </a:xfrm>
          <a:prstGeom prst="rect">
            <a:avLst/>
          </a:prstGeom>
          <a:noFill/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160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178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Learns patterns humans might miss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846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8646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Always compared against baseline to prove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440680"/>
            <a:ext cx="9144000" cy="548640"/>
          </a:xfrm>
          <a:prstGeom prst="rect">
            <a:avLst/>
          </a:prstGeom>
          <a:noFill/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532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D32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5504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Could similar approaches help your team?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DCDCDC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85D04"/>
                </a:solidFill>
              </a:defRPr>
            </a:pPr>
            <a:r>
              <a:t>hubbleAI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